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C9B87A"/>
                </a:solidFill>
                <a:latin typeface="Segoe UI"/>
              </a:rPr>
              <a:t>Запуск компании в КНР · по итогам исследования office_setup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Сервисный центр закупок
в Китае: WFOE «Детский Мир»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3200400" cy="50800"/>
          </a:xfrm>
          <a:prstGeom prst="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CFDC"/>
                </a:solidFill>
                <a:latin typeface="Segoe UI"/>
              </a:rPr>
              <a:t>Структура, бюджет и план запуска на 6 месяцев
Фаза 1 — услуги для московских ПМ, без торговли на собственный баланс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A7B0C4"/>
                </a:solidFill>
                <a:latin typeface="Segoe UI"/>
              </a:rPr>
              <a:t>WFOE (торговая компания с правом экспорта) · HQ Шанхай · QC-узел Гуанчжоу · [дата] · [докладчик]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1091153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B9C2D6"/>
                </a:solidFill>
                <a:latin typeface="Segoe UI"/>
              </a:rPr>
              <a:t>Сорсинг · образцы · ОТК · контент · тестирование · аналитика — по сервисным договорам (cost-plus)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Миссия и модель Фазы 1: «глаза и руки» в Китае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1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Segoe UI"/>
              </a:rPr>
              <a:t>Миссия: дать московскому офису прямой, контролируемый и быстрый доступ к китайским фабрикам — сорсинг, образцы, ОТК, контент, тестирование, аналитика, разрешение проблем с поставщиками.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/>
              </a:rPr>
              <a:t>Юридическая форма — </a:t>
            </a:r>
            <a:r>
              <a:rPr sz="1500">
                <a:solidFill>
                  <a:srgbClr val="333333"/>
                </a:solidFill>
                <a:latin typeface="Segoe UI"/>
              </a:rPr>
              <a:t>WFOE с правом экспорта, но 6 месяцев — только сервисные услуги по договорам с материнской компанией.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/>
              </a:rPr>
              <a:t>Самофинансирование — </a:t>
            </a:r>
            <a:r>
              <a:rPr sz="1500">
                <a:solidFill>
                  <a:srgbClr val="333333"/>
                </a:solidFill>
                <a:latin typeface="Segoe UI"/>
              </a:rPr>
              <a:t>выручка = cost base × 1,08 (cost-plus) + НДС 6%.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02736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/>
              </a:rPr>
              <a:t>Русское управление + китайская команда — </a:t>
            </a:r>
            <a:r>
              <a:rPr sz="1500">
                <a:solidFill>
                  <a:srgbClr val="333333"/>
                </a:solidFill>
                <a:latin typeface="Segoe UI"/>
              </a:rPr>
              <a:t>директор и технолог (RU), операционный штат (CN).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61104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/>
              </a:rPr>
              <a:t>Экспортная лицензия — </a:t>
            </a:r>
            <a:r>
              <a:rPr sz="1500">
                <a:solidFill>
                  <a:srgbClr val="333333"/>
                </a:solidFill>
                <a:latin typeface="Segoe UI"/>
              </a:rPr>
              <a:t>оформляется «про запас»; активация в Фазе 2 (решение в конце M6).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02352"/>
            <a:ext cx="10911535" cy="822960"/>
          </a:xfrm>
          <a:prstGeom prst="roundRect">
            <a:avLst/>
          </a:prstGeom>
          <a:solidFill>
            <a:srgbClr val="EAF5F3"/>
          </a:solidFill>
          <a:ln w="12700">
            <a:solidFill>
              <a:srgbClr val="1A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45433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7A6D"/>
                </a:solidFill>
                <a:latin typeface="Segoe UI"/>
              </a:rPr>
              <a:t>Не представительство и не торговый дом «с первого дня», а контролируемый сервисный контур с прозрачным биллингом.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Scope Фазы 1: что делаем и чего не делаем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272887" cy="411480"/>
          </a:xfrm>
          <a:prstGeom prst="round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В scope (6 месяцев)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527288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7332"/>
                <a:gridCol w="3295554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Направление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Содержание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Sourcing-саппорт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Поиск и верификация фабрик, AVL, КП по брифам ПМ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Образцы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Преселекция, консолидация, авиа в РФ (3–7 дней)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ОТК и аудиты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Pre-shipment AQL 2,5, аудиты фабрик/складов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Брак и задержки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Выезды на фабрику, CAPA, эскалация в Москву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Контент/тесты/аналитика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Фото/видео, лаборатории, тренды рынка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Liaison + финансы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Единое окно для ПМ, биллинг услуг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78727" y="1371600"/>
            <a:ext cx="5272887" cy="4114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Out of scope (Фаза 1)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78727.5" y="1920240"/>
          <a:ext cx="5272886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6443"/>
                <a:gridCol w="2636443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Исключено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Комментарий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Экспорт/торговля на баланс WFOE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Лицензия есть, не используется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Контракты на закупку/импорт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Ведёт головная компания РФ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Прямые платежи фабрикам за товар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Исключение — pass-through лабораторий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Складирование и таможня партий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Функция логистики РФ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B2C / маркетплейсы в КНР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10819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Фаза 2 (конец M6): go/no-go по активации торговых/экспортных операций без смены юр. формы.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Карта функциональных блоков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3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45828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/>
              </a:rPr>
              <a:t>10 функциональных блоков: F1–F5 — операционная цепочка, F6–F10 — экспертиза и сервисы, F7 — обеспечение.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5828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/>
              </a:rPr>
              <a:t>F1–F5 — </a:t>
            </a:r>
            <a:r>
              <a:rPr sz="1400">
                <a:solidFill>
                  <a:srgbClr val="333333"/>
                </a:solidFill>
                <a:latin typeface="Segoe UI"/>
              </a:rPr>
              <a:t>sourcing → QC → образцы → проблемы → liaison.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45828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/>
              </a:rPr>
              <a:t>F6 — </a:t>
            </a:r>
            <a:r>
              <a:rPr sz="1400">
                <a:solidFill>
                  <a:srgbClr val="333333"/>
                </a:solidFill>
                <a:latin typeface="Segoe UI"/>
              </a:rPr>
              <a:t>технология детской одежды (tech pack, PPS, GB 31701).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45828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/>
              </a:rPr>
              <a:t>F8–F10 — </a:t>
            </a:r>
            <a:r>
              <a:rPr sz="1400">
                <a:solidFill>
                  <a:srgbClr val="333333"/>
                </a:solidFill>
                <a:latin typeface="Segoe UI"/>
              </a:rPr>
              <a:t>контент, лаборатории, аналитика рынка.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45828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/>
              </a:rPr>
              <a:t>F7 — </a:t>
            </a:r>
            <a:r>
              <a:rPr sz="1400">
                <a:solidFill>
                  <a:srgbClr val="333333"/>
                </a:solidFill>
                <a:latin typeface="Segoe UI"/>
              </a:rPr>
              <a:t>администрация, учёт WFOE, биллинг материнской.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7244" y="1371600"/>
            <a:ext cx="6054370" cy="5102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agram-01-func-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844" y="2432882"/>
            <a:ext cx="5597170" cy="2979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Операционная цепочка F1–F5 и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4 /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371600"/>
          <a:ext cx="10911533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912"/>
                <a:gridCol w="4091825"/>
                <a:gridCol w="4773796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Функция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Цель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KPI (целевые)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F1. Sourcing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Поддержка ПМ: фабрики, AVL, КП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Ответ ПМ ≤ 2 дня; ≥ 90% брифов в срок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F2. ОТК / QC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Pre-shipment + аудиты до отгрузки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Дефектность &lt; 1,5%; PSI ≤ 1 день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F3. Образцы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Преселекция и отправка в РФ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3–7 дней «фабрика → отправка»; ≥ 98%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F4. Брак/задержки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Выезд, root cause, CAPA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Выезд ≤ 3 дня; ≥ 80% без эскалации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F5. Liaison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Единое окно для Москвы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Ответ ≤ 1 день; статус без срывов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Доп. функции (M5+): F6 tech pack/PPS · F8 контент к старту продаж · F9 тесты ТР ТС/GB · F10 тренды рынка.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Организационная структура (целевая, к M6)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5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10911535" cy="4645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-02-org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65" y="1600200"/>
            <a:ext cx="9391165" cy="4187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4418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66666"/>
                </a:solidFill>
                <a:latin typeface="Segoe UI"/>
              </a:rPr>
              <a:t>Сплошные линии — административное подчинение директору; пунктир — функциональные связи с Москвой и внутри команды.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Численность и локации (к концу M6)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6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/>
              </a:rPr>
              <a:t>Модель найма: RU — директор (Z-виза, legal representative) и технолог; CN — все операционные роли.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10911533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8263"/>
                <a:gridCol w="7554139"/>
                <a:gridCol w="1119131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Локация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Роли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Чел.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Шанхай (HQ)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Директор (RU), технолог (RU), бухгалтер, офис-админ, 3 кат. менеджера, контент, тестирование, аналитик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Гуанчжоу (QC-узел)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Руководитель ОТК + инспекторы (1–2)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2–3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/>
                        </a:rPr>
                        <a:t>Итого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/>
                        </a:rPr>
                        <a:t>12–13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Кат. менеджеры и технолог базируются в Шанхае, но часто в командировках (Гуандун, Фуцзянь, Чжэцзян, Чэнхай).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Бюджет первых 6 месяцев — сводка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7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/>
              </a:rPr>
              <a:t>Курс-ориентир: 1 CNY = 12 RUB · модель cost-plus 8%.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10911533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0058"/>
                <a:gridCol w="2297165"/>
                <a:gridCol w="2584310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Блок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CNY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RUB (×12)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CAPEX (единовременно, старт)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254 000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3 048 000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Себестоимость услуг — cost base (6 мес.)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1 730 675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20 768 100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Налоги WFOE (НДС 6% + CIT 25%)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146 761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1 761 132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/>
                        </a:rPr>
                        <a:t>Выручка по сервисным договорам (без НДС)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/>
                        </a:rPr>
                        <a:t>1 869 129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/>
                        </a:rPr>
                        <a:t>22 429 548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Run-rate на M6 (cost base / мес)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433 025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/>
                        </a:rPr>
                        <a:t>5 196 300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Денежный отток материнской (6 мес.): выручка + НДС = 1 981 277 CNY (~23,78 млн RUB). CAPEX в M1–M2 покрывается инъекцией оборотного капитала.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Финансовая модель: сервисные договоры (cost-plus)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8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/>
              </a:rPr>
              <a:t>WFOE не получает «дотацию», а продаёт услуги материнской компании. Наценка 8% — ориентир для трансфертного ценообразования.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10911535" cy="40965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ram-03-budge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76254"/>
            <a:ext cx="10454335" cy="17844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044184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66666"/>
                </a:solidFill>
                <a:latin typeface="Segoe UI"/>
              </a:rPr>
              <a:t>Один рамочный сервисный договор + приложения-SOW по услугам + ежемесячные акты (биллинг в CNY).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Перечень сервисных договоров (billable services)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9 /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371600"/>
          <a:ext cx="10911533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8555"/>
                <a:gridCol w="1636730"/>
                <a:gridCol w="3546248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Услуга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Функция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Модель оплаты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Поиск и верификация поставщиков (sourcing fee)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Ретейнер / за бриф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Контроль качества и аудиты (QC / audit fee)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F2, F4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За инспекцию/аудит + ретейнер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Управление и отправка образцов (sample fee)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F3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За партию / ретейнер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Создание контента (content production fee)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F8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За SKU / пакет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Координация тестирования (lab testing fee)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F9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Координация + pass-through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Аналитика рынка (market intelligence retainer)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F10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Ежемесячный ретейнер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Управление и liaison (management fee)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F5, F7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/>
                        </a:rPr>
                        <a:t>Ежемесячный ретейнер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Счета лабораторий SGS/BV/Intertek — pass-through: перевыставляются отдельной строкой, в cost base не входят.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Roadmap запуска M1–M6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10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10911535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-04-roadmap-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896" y="1600200"/>
            <a:ext cx="9447903" cy="109728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108960"/>
          <a:ext cx="10911533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1957"/>
                <a:gridCol w="7085412"/>
                <a:gridCol w="2834164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Месяц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Ключевые действия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Веха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M1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Директор, юрконсультант, ТМ в CNIPA, проработка сервисных договоров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Scope утверждён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M2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Pre-approval WFOE, офис-админ, кат. менеджер (игрушки), рамочный договор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Команда 3 чел.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M3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Business license, счёт, экспортная рег. «про запас», протокол ОТК AQL 2,5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WFOE действует, 6 чел.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/>
                        </a:rPr>
                        <a:t>M4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/>
                        </a:rPr>
                        <a:t>Бухгалтер, инспектор, аналитик; первые образцы и PSI; первый биллинг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/>
                        </a:rPr>
                        <a:t>9 чел., первый акт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/>
                        </a:rPr>
                        <a:t>M5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/>
                        </a:rPr>
                        <a:t>Технолог, контент, тестирование, 2-й инспектор; PPS, контент, тесты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/>
                        </a:rPr>
                        <a:t>13 чел., полная команда</a:t>
                      </a:r>
                    </a:p>
                  </a:txBody>
                  <a:tcPr marT="0" marB="0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M6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Штатный режим, KPI, ретроспектива, go/no-go экспорт (Фаза 2)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KPI на уровне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KPI по фазам и график найма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11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272887" cy="411480"/>
          </a:xfrm>
          <a:prstGeom prst="round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KPI по фазам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527288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9155"/>
                <a:gridCol w="1054577"/>
                <a:gridCol w="1054577"/>
                <a:gridCol w="1054577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KPI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M1–2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M3–4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M5–6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Численность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1→3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6→9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Фабрики (накопит.)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10–15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25–40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Образцы в РФ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первые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поток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PSI / аудиты в мес.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первые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по SKU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Дефектность отгрузок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базлайн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&lt; 1,5%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SLA ответа ПМ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≤ 2 дня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≤ 1 день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78727" y="1371600"/>
            <a:ext cx="5272887" cy="4114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График найма (активных сотрудников)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78727.5" y="1920240"/>
          <a:ext cx="5272881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1815"/>
                <a:gridCol w="458511"/>
                <a:gridCol w="458511"/>
                <a:gridCol w="458511"/>
                <a:gridCol w="458511"/>
                <a:gridCol w="458511"/>
                <a:gridCol w="458511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Роль / месяц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M1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M2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M3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M4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M5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M6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Директор (RU)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Офис-админ (CN)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Кат. менеджер игрушки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Кат. менеджеры одежда/акс.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Руководитель ОТК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Бухгалтер, инспектор, аналитик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Технолог, контент, тестир., инсп.2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Активных сотрудников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10819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13 вех M1–M6 — см. slides.md (слайд 12) и 04_setup_development_plan_6m.md. Поэтапный найм снижает burn rate первых месяцев.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Горизонтальные связи с московским офисом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12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/>
              </a:rPr>
              <a:t>Единое окно (директор WFOE, F5) + прямые функциональные связки кат. менеджеров и ПМ.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10911535" cy="3127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ram-05-moscow-li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963" y="2148840"/>
            <a:ext cx="5143768" cy="2670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093208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B02A30"/>
                </a:solidFill>
                <a:latin typeface="Segoe UI"/>
              </a:rPr>
              <a:t>•  </a:t>
            </a:r>
            <a:r>
              <a:rPr sz="1300" b="1">
                <a:solidFill>
                  <a:srgbClr val="1B2A4A"/>
                </a:solidFill>
                <a:latin typeface="Segoe UI"/>
              </a:rPr>
              <a:t>Единое окно: </a:t>
            </a:r>
            <a:r>
              <a:rPr sz="1300">
                <a:solidFill>
                  <a:srgbClr val="333333"/>
                </a:solidFill>
                <a:latin typeface="Segoe UI"/>
              </a:rPr>
              <a:t>все запросы через директора — без «дёргания» исполнителей в обход приоритетов.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77256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B02A30"/>
                </a:solidFill>
                <a:latin typeface="Segoe UI"/>
              </a:rPr>
              <a:t>•  </a:t>
            </a:r>
            <a:r>
              <a:rPr sz="1300" b="1">
                <a:solidFill>
                  <a:srgbClr val="1B2A4A"/>
                </a:solidFill>
                <a:latin typeface="Segoe UI"/>
              </a:rPr>
              <a:t>Функциональные связки: </a:t>
            </a:r>
            <a:r>
              <a:rPr sz="1300">
                <a:solidFill>
                  <a:srgbClr val="333333"/>
                </a:solidFill>
                <a:latin typeface="Segoe UI"/>
              </a:rPr>
              <a:t>кат. менеджеры ↔ ПМ; технолог ↔ ПМ одежды; контент ↔ маркетинг.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613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B02A30"/>
                </a:solidFill>
                <a:latin typeface="Segoe UI"/>
              </a:rPr>
              <a:t>•  </a:t>
            </a:r>
            <a:r>
              <a:rPr sz="1300" b="1">
                <a:solidFill>
                  <a:srgbClr val="1B2A4A"/>
                </a:solidFill>
                <a:latin typeface="Segoe UI"/>
              </a:rPr>
              <a:t>Общий трекер: </a:t>
            </a:r>
            <a:r>
              <a:rPr sz="1300">
                <a:solidFill>
                  <a:srgbClr val="333333"/>
                </a:solidFill>
                <a:latin typeface="Segoe UI"/>
              </a:rPr>
              <a:t>задачи, AVL, библиотека образцов, протоколы тестов — обеим сторонам. Часовые пояса: МСК +5 ч.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Сквозные процессы: образцы, QC и оплата доставки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13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A4A"/>
                </a:solidFill>
                <a:latin typeface="Segoe UI"/>
              </a:rPr>
              <a:t>Процесс А. Образцы (3–7 дней «фабрика → РФ»)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64208"/>
            <a:ext cx="5318607" cy="2029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ram-06-process-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77031"/>
            <a:ext cx="4861407" cy="404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13716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A4A"/>
                </a:solidFill>
                <a:latin typeface="Segoe UI"/>
              </a:rPr>
              <a:t>Процесс Б. Pre-shipment QC (AQL 2,5)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64208"/>
            <a:ext cx="5318607" cy="2029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ram-07-process-q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7" y="2245005"/>
            <a:ext cx="4861407" cy="8683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7856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A4A"/>
                </a:solidFill>
                <a:latin typeface="Segoe UI"/>
              </a:rPr>
              <a:t>Контур оплаты доставки образцов (cost-plus)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78224"/>
            <a:ext cx="10911535" cy="1938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iagram-08-sample-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48454"/>
            <a:ext cx="10454335" cy="9980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610819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7A6D"/>
                </a:solidFill>
                <a:latin typeface="Segoe UI"/>
              </a:rPr>
              <a:t>WFOE оплачивает перевозчика из своих средств → расход в cost base → перевыставление материнской с наценкой 8% + НДС.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/>
              </a:rPr>
              <a:t>Детский Мир · WFOE КНР · Фаза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SLA, риски и критерии активации Фазы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Сервисный центр закупок в Китае · 6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/>
              </a:rPr>
              <a:t>14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454298" cy="347472"/>
          </a:xfrm>
          <a:prstGeom prst="round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SLA (ключевые)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737360"/>
          <a:ext cx="3454297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65"/>
                <a:gridCol w="1151432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Параметр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Значение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Ответ на запрос ПМ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≤ 1 день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Закрытие брифа на образец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3–7 дней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Выезд по браку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≤ 3 дня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PSI после инспекции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≤ 1 день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Биллинг материнской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ежемесячно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Статус-отчёт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еженедельно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Аналитические обзоры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раз в 2 недели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368698" y="1371600"/>
            <a:ext cx="3454298" cy="347472"/>
          </a:xfrm>
          <a:prstGeom prst="round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Риски и митигация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68698.333333334" y="1737360"/>
          <a:ext cx="3454297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4291"/>
                <a:gridCol w="1860006"/>
              </a:tblGrid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Риск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/>
                        </a:rPr>
                        <a:t>Митигация</a:t>
                      </a:r>
                    </a:p>
                  </a:txBody>
                  <a:tcPr marT="0" marB="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Задержка Z-визы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Старт M1, HR-агентство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Срыв регистрации WFOE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Юрконсультант, буфер сроков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Трансфертное ценообр.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Согласовать cost-plus M1–M2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Кража ИС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ТМ в CNIPA до фабрик, NDA</a:t>
                      </a:r>
                    </a:p>
                  </a:txBody>
                  <a:tcPr marT="0" marB="0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Открытие счёта (санкции)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  <a:tc>
                  <a:txBody>
                    <a:bodyPr wrap="square" anchor="ctr" lIns="0" rIns="0" tIns="0" bIns="0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/>
                        </a:rPr>
                        <a:t>Bank of China / ICBC, CNY</a:t>
                      </a:r>
                    </a:p>
                  </a:txBody>
                  <a:tcPr marT="0" marB="0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097316" y="1371600"/>
            <a:ext cx="3454298" cy="347472"/>
          </a:xfrm>
          <a:prstGeom prst="round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Критерии Фазы 2 (M6)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316" y="1737360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/>
              </a:rPr>
              <a:t>☐  </a:t>
            </a:r>
            <a:r>
              <a:rPr sz="1050">
                <a:solidFill>
                  <a:srgbClr val="333333"/>
                </a:solidFill>
                <a:latin typeface="Segoe UI"/>
              </a:rPr>
              <a:t>KPI сервисных функций на уровне, биллинг отлажен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2304288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/>
              </a:rPr>
              <a:t>☐  </a:t>
            </a:r>
            <a:r>
              <a:rPr sz="1050">
                <a:solidFill>
                  <a:srgbClr val="333333"/>
                </a:solidFill>
                <a:latin typeface="Segoe UI"/>
              </a:rPr>
              <a:t>Подтверждённая экономия на закупках (Finance)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871216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/>
              </a:rPr>
              <a:t>☐  </a:t>
            </a:r>
            <a:r>
              <a:rPr sz="1050">
                <a:solidFill>
                  <a:srgbClr val="333333"/>
                </a:solidFill>
                <a:latin typeface="Segoe UI"/>
              </a:rPr>
              <a:t>Бизнес-кейс под торговые операции (B2B)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316" y="3438144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/>
              </a:rPr>
              <a:t>☐  </a:t>
            </a:r>
            <a:r>
              <a:rPr sz="1050">
                <a:solidFill>
                  <a:srgbClr val="333333"/>
                </a:solidFill>
                <a:latin typeface="Segoe UI"/>
              </a:rPr>
              <a:t>Готовность Finance к товарным CNY-расчётам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4005072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/>
              </a:rPr>
              <a:t>☐  </a:t>
            </a:r>
            <a:r>
              <a:rPr sz="1050">
                <a:solidFill>
                  <a:srgbClr val="333333"/>
                </a:solidFill>
                <a:latin typeface="Segoe UI"/>
              </a:rPr>
              <a:t>Положительная оценка санкционного/правового риска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911535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24144"/>
            <a:ext cx="103628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Georgia"/>
              </a:rPr>
              <a:t>WFOE в Фазе 1 — контролируемый сервисный контур «глаза и руки» в Китае с прозрачным cost-plus финансированием, а не торговый риск с первого дня.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