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11535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C9B87A"/>
                </a:solidFill>
                <a:latin typeface="Segoe UI" panose="020B0502040204020203"/>
              </a:rPr>
              <a:t>Запуск компании в КНР </a:t>
            </a:r>
            <a:endParaRPr sz="1500" b="0">
              <a:solidFill>
                <a:srgbClr val="C9B87A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Georgia" panose="02040502050405020303"/>
              </a:rPr>
              <a:t>Сервисный центр закупок
в Китае: WFOE «Детский Мир»</a:t>
            </a:r>
            <a:endParaRPr sz="40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3200400" cy="50800"/>
          </a:xfrm>
          <a:prstGeom prst="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115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CFDC"/>
                </a:solidFill>
                <a:latin typeface="Segoe UI" panose="020B0502040204020203"/>
              </a:rPr>
              <a:t>Структура, бюджет и план запуска на 6 месяцев
Фаза 1 — услуги для московских ПМ, без торговли на собственный баланс</a:t>
            </a:r>
            <a:endParaRPr sz="1700" b="0">
              <a:solidFill>
                <a:srgbClr val="C9CFDC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911535" cy="236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A7B0C4"/>
                </a:solidFill>
                <a:latin typeface="Segoe UI" panose="020B0502040204020203"/>
              </a:rPr>
              <a:t>WFOE (торговая компания с правом экспорта) · HQ Шанхай · QC-узел Гуанчжоу · </a:t>
            </a:r>
            <a:r>
              <a:rPr lang="ru-RU" sz="1400" b="0">
                <a:solidFill>
                  <a:srgbClr val="A7B0C4"/>
                </a:solidFill>
                <a:latin typeface="Segoe UI" panose="020B0502040204020203"/>
              </a:rPr>
              <a:t>2026/06/03</a:t>
            </a:r>
            <a:r>
              <a:rPr sz="1400" b="0">
                <a:solidFill>
                  <a:srgbClr val="A7B0C4"/>
                </a:solidFill>
                <a:latin typeface="Segoe UI" panose="020B0502040204020203"/>
              </a:rPr>
              <a:t> · </a:t>
            </a:r>
            <a:r>
              <a:rPr lang="ru-RU" sz="1400" b="0">
                <a:solidFill>
                  <a:srgbClr val="A7B0C4"/>
                </a:solidFill>
                <a:latin typeface="Segoe UI" panose="020B0502040204020203"/>
              </a:rPr>
              <a:t>Виталий Курносенко</a:t>
            </a:r>
            <a:endParaRPr lang="ru-RU" sz="1400" b="0">
              <a:solidFill>
                <a:srgbClr val="A7B0C4"/>
              </a:solidFill>
              <a:latin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B9C2D6"/>
                </a:solidFill>
                <a:latin typeface="Segoe UI" panose="020B0502040204020203"/>
              </a:rPr>
              <a:t>Сорсинг · образцы · ОТК · контент · тестирование · аналитика — по сервисным договорам (cost-plus)</a:t>
            </a:r>
            <a:endParaRPr sz="1300" b="0">
              <a:solidFill>
                <a:srgbClr val="B9C2D6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Миссия и модель Фазы 1: «глаза и руки» в Китае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1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Segoe UI" panose="020B0502040204020203"/>
              </a:rPr>
              <a:t>Миссия: дать московскому офису прямой, контролируемый и быстрый доступ к китайским фабрикам — сорсинг, образцы, ОТК, контент, тестирование, аналитика, разрешение проблем с поставщиками.</a:t>
            </a:r>
            <a:endParaRPr sz="1500" b="0">
              <a:solidFill>
                <a:srgbClr val="222222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1091153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 panose="020B0502040204020203"/>
              </a:rPr>
              <a:t>Юридическая форма — </a:t>
            </a:r>
            <a:r>
              <a:rPr sz="1500">
                <a:solidFill>
                  <a:srgbClr val="333333"/>
                </a:solidFill>
                <a:latin typeface="Segoe UI" panose="020B0502040204020203"/>
              </a:rPr>
              <a:t>WFOE с правом экспорта, но 6 месяцев — только сервисные услуги по договорам с материнской компанией.</a:t>
            </a:r>
            <a:endParaRPr sz="15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1091153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 panose="020B0502040204020203"/>
              </a:rPr>
              <a:t>Самофинансирование — </a:t>
            </a:r>
            <a:r>
              <a:rPr sz="1500">
                <a:solidFill>
                  <a:srgbClr val="333333"/>
                </a:solidFill>
                <a:latin typeface="Segoe UI" panose="020B0502040204020203"/>
              </a:rPr>
              <a:t>выручка = cost base × 1,08 (cost-plus) + НДС 6%.</a:t>
            </a:r>
            <a:endParaRPr sz="15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3602736"/>
            <a:ext cx="1091153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 panose="020B0502040204020203"/>
              </a:rPr>
              <a:t>Русское управление + китайская команда — </a:t>
            </a:r>
            <a:r>
              <a:rPr sz="1500">
                <a:solidFill>
                  <a:srgbClr val="333333"/>
                </a:solidFill>
                <a:latin typeface="Segoe UI" panose="020B0502040204020203"/>
              </a:rPr>
              <a:t>директор и технолог (RU), операционный штат (CN).</a:t>
            </a:r>
            <a:endParaRPr sz="15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261104"/>
            <a:ext cx="1091153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500" b="1">
                <a:solidFill>
                  <a:srgbClr val="1B2A4A"/>
                </a:solidFill>
                <a:latin typeface="Segoe UI" panose="020B0502040204020203"/>
              </a:rPr>
              <a:t>Экспортная лицензия — </a:t>
            </a:r>
            <a:r>
              <a:rPr sz="1500">
                <a:solidFill>
                  <a:srgbClr val="333333"/>
                </a:solidFill>
                <a:latin typeface="Segoe UI" panose="020B0502040204020203"/>
              </a:rPr>
              <a:t>оформляется «про запас»; активация в Фазе 2 (решение в конце M6).</a:t>
            </a:r>
            <a:endParaRPr sz="15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5102352"/>
            <a:ext cx="10911535" cy="822960"/>
          </a:xfrm>
          <a:prstGeom prst="roundRect">
            <a:avLst/>
          </a:prstGeom>
          <a:solidFill>
            <a:srgbClr val="EAF5F3"/>
          </a:solidFill>
          <a:ln w="12700">
            <a:solidFill>
              <a:srgbClr val="1A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454335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A7A6D"/>
                </a:solidFill>
                <a:latin typeface="Segoe UI" panose="020B0502040204020203"/>
              </a:rPr>
              <a:t>Не представительство и не торговый дом «с первого дня», а контролируемый сервисный контур с прозрачным биллингом.</a:t>
            </a:r>
            <a:endParaRPr sz="1400" b="1">
              <a:solidFill>
                <a:srgbClr val="1A7A6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Scope Фазы 1: что делаем и чего не делаем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2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272887" cy="411480"/>
          </a:xfrm>
          <a:prstGeom prst="round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В scope (6 месяцев)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527288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7332"/>
                <a:gridCol w="329555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Направление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Содержание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Sourcing-саппорт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Поиск и верификация фабрик, AVL, КП по брифам ПМ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Образцы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Преселекция, консолидация, авиа в РФ (3–7 дней)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ОТК и аудиты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Pre-shipment AQL 2,5, аудиты фабрик/складов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Брак и задержки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Выезды на фабрику, CAPA, эскалация в Москву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Контент/тесты/аналитика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Фото/видео, лаборатории, тренды рынка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Liaison + финансы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Единое окно для ПМ, биллинг услуг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78727" y="1371600"/>
            <a:ext cx="5272887" cy="4114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Out of scope (Фаза 1)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78728" y="1920240"/>
          <a:ext cx="5272886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6443"/>
                <a:gridCol w="2636443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Исключено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Комментарий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Экспорт/торговля на баланс WFOE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Лицензия есть, не используется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Контракты на закупку/импорт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Ведёт головная компания РФ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Прямые платежи фабрикам за товар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Исключение — pass-through лабораторий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Складирование и таможня партий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Функция логистики РФ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B2C / маркетплейсы в КНР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—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10819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A7A6D"/>
                </a:solidFill>
                <a:latin typeface="Segoe UI" panose="020B0502040204020203"/>
              </a:rPr>
              <a:t>Фаза 2 (конец M6): go/no-go по активации торговых/экспортных операций без смены юр. формы.</a:t>
            </a:r>
            <a:endParaRPr sz="1100" b="0">
              <a:solidFill>
                <a:srgbClr val="1A7A6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Карта функциональных блоков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3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060450"/>
            <a:ext cx="109118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 panose="020B0502040204020203"/>
              </a:rPr>
              <a:t>10 функциональных блоков: F1–F5 — операционная цепочка, F6–F10 — экспертиза и сервисы, F7 — обеспечение.</a:t>
            </a:r>
            <a:endParaRPr sz="14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0505" y="1352550"/>
            <a:ext cx="2674620" cy="450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 panose="020B0502040204020203"/>
              </a:rPr>
              <a:t>F1–F5 — </a:t>
            </a:r>
            <a:r>
              <a:rPr sz="1400">
                <a:solidFill>
                  <a:srgbClr val="333333"/>
                </a:solidFill>
                <a:latin typeface="Segoe UI" panose="020B0502040204020203"/>
              </a:rPr>
              <a:t>sourcing → QC → образцы → проблемы → liaison.</a:t>
            </a:r>
            <a:endParaRPr sz="14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44850" y="1350645"/>
            <a:ext cx="3019425" cy="450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 panose="020B0502040204020203"/>
              </a:rPr>
              <a:t>F6 — </a:t>
            </a:r>
            <a:r>
              <a:rPr sz="1400">
                <a:solidFill>
                  <a:srgbClr val="333333"/>
                </a:solidFill>
                <a:latin typeface="Segoe UI" panose="020B0502040204020203"/>
              </a:rPr>
              <a:t>технология детской одежды (tech pack, PPS, GB 31701).</a:t>
            </a:r>
            <a:endParaRPr sz="14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04000" y="1371600"/>
            <a:ext cx="2879725" cy="450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 panose="020B0502040204020203"/>
              </a:rPr>
              <a:t>F8–F10 — </a:t>
            </a:r>
            <a:r>
              <a:rPr sz="1400">
                <a:solidFill>
                  <a:srgbClr val="333333"/>
                </a:solidFill>
                <a:latin typeface="Segoe UI" panose="020B0502040204020203"/>
              </a:rPr>
              <a:t>контент, лаборатории, аналитика рынка.</a:t>
            </a:r>
            <a:endParaRPr sz="14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0" y="1351915"/>
            <a:ext cx="2585085" cy="450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400" b="1">
                <a:solidFill>
                  <a:srgbClr val="1B2A4A"/>
                </a:solidFill>
                <a:latin typeface="Segoe UI" panose="020B0502040204020203"/>
              </a:rPr>
              <a:t>F7 — </a:t>
            </a:r>
            <a:r>
              <a:rPr sz="1400">
                <a:solidFill>
                  <a:srgbClr val="333333"/>
                </a:solidFill>
                <a:latin typeface="Segoe UI" panose="020B0502040204020203"/>
              </a:rPr>
              <a:t>администрация, учёт WFOE, биллинг материнской.</a:t>
            </a:r>
            <a:endParaRPr sz="1400">
              <a:solidFill>
                <a:srgbClr val="333333"/>
              </a:solidFill>
              <a:latin typeface="Segoe UI" panose="020B0502040204020203"/>
            </a:endParaRPr>
          </a:p>
        </p:txBody>
      </p:sp>
      <p:pic>
        <p:nvPicPr>
          <p:cNvPr id="17" name="Picture 16" descr="diagram-01-func-block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65" y="1814195"/>
            <a:ext cx="9024620" cy="4804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Операционная цепочка F1–F5 и KPI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4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371600"/>
          <a:ext cx="10911533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912"/>
                <a:gridCol w="4091825"/>
                <a:gridCol w="477379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Функция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Цель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KPI (целевые)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F1. Sourcing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Поддержка ПМ: фабрики, AVL, КП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Ответ ПМ ≤ 2 дня; ≥ 90% брифов в срок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F2. ОТК / QC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Pre-shipment + аудиты до отгрузки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Дефектность &lt; 1,5%; PSI ≤ 1 день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F3. Образцы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Преселекция и отправка в РФ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3–7 дней «фабрика → отправка»; ≥ 98%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F4. Брак/задержки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Выезд, root cause, CAPA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Выезд ≤ 3 дня; ≥ 80% без эскалации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F5. Liaison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Единое окно для Москвы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Ответ ≤ 1 день; статус без срывов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 panose="020B0502040204020203"/>
              </a:rPr>
              <a:t>Доп. функции (M5+): F6 tech pack/PPS · F8 контент к старту продаж · F9 тесты ТР ТС/GB · F10 тренды рынка.</a:t>
            </a:r>
            <a:endParaRPr sz="1100" b="0">
              <a:solidFill>
                <a:srgbClr val="1A7A6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Организационная структура (целевая, к M6)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5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10911535" cy="4645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4418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66666"/>
                </a:solidFill>
                <a:latin typeface="Segoe UI" panose="020B0502040204020203"/>
              </a:rPr>
              <a:t>Сплошные линии — административное подчинение директору; пунктир — функциональные связи с Москвой и внутри команды.</a:t>
            </a:r>
            <a:endParaRPr sz="1200" b="0">
              <a:solidFill>
                <a:srgbClr val="666666"/>
              </a:solidFill>
              <a:latin typeface="Segoe UI" panose="020B0502040204020203"/>
            </a:endParaRPr>
          </a:p>
        </p:txBody>
      </p:sp>
      <p:pic>
        <p:nvPicPr>
          <p:cNvPr id="13" name="Picture 12" descr="diagram-02-org-struct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05" y="1397000"/>
            <a:ext cx="10206355" cy="4551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Численность и локации (к концу M6)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6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 panose="020B0502040204020203"/>
              </a:rPr>
              <a:t>Модель найма: RU — директор (Z-виза, legal representative) и технолог; CN — все операционные роли.</a:t>
            </a:r>
            <a:endParaRPr sz="1400" b="0">
              <a:solidFill>
                <a:srgbClr val="666666"/>
              </a:solidFill>
              <a:latin typeface="Segoe UI" panose="020B0502040204020203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10911533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8263"/>
                <a:gridCol w="7554139"/>
                <a:gridCol w="1119131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Локация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Роли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Чел.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Шанхай (HQ)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Директор (RU), технолог (RU), бухгалтер, офис-админ, 3 кат. менеджера, контент, тестирование, аналитик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10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Гуанчжоу (QC-узел)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Руководитель ОТК + инспекторы (1–2)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2–3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Итого</a:t>
                      </a:r>
                      <a:endParaRPr sz="120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20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12–13</a:t>
                      </a:r>
                      <a:endParaRPr sz="120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 panose="020B0502040204020203"/>
              </a:rPr>
              <a:t>Кат. менеджеры и технолог базируются в Шанхае, но часто в командировках (Гуандун, Фуцзянь, Чжэцзян, Чэнхай).</a:t>
            </a:r>
            <a:endParaRPr sz="1100" b="0">
              <a:solidFill>
                <a:srgbClr val="1A7A6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Бюджет первых 6 месяцев — сводка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7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 panose="020B0502040204020203"/>
              </a:rPr>
              <a:t>Курс-ориентир: 1 CNY = 12 RUB · модель cost-plus 8%.</a:t>
            </a:r>
            <a:endParaRPr sz="1400" b="0">
              <a:solidFill>
                <a:srgbClr val="666666"/>
              </a:solidFill>
              <a:latin typeface="Segoe UI" panose="020B0502040204020203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10911533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0058"/>
                <a:gridCol w="2297165"/>
                <a:gridCol w="258431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Блок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CNY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RUB (×12)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CAPEX (единовременно, старт)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254 000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3 048 000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Себестоимость услуг — cost base (6 мес.)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1 730 675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20 768 100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Налоги WFOE (НДС 6% + CIT 25%)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146 761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1 761 132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Выручка по сервисным договорам (без НДС)</a:t>
                      </a:r>
                      <a:endParaRPr sz="120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1 869 129</a:t>
                      </a:r>
                      <a:endParaRPr sz="120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22 429 548</a:t>
                      </a:r>
                      <a:endParaRPr sz="120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Run-rate на M6 (cost base / мес)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433 025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sz="120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5 196 300</a:t>
                      </a:r>
                      <a:endParaRPr sz="120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 panose="020B0502040204020203"/>
              </a:rPr>
              <a:t>Денежный отток материнской (6 мес.): выручка + НДС = 1 981 277 CNY (~23,78 млн RUB). CAPEX в M1–M2 покрывается инъекцией оборотного капитала.</a:t>
            </a:r>
            <a:endParaRPr sz="1100" b="0">
              <a:solidFill>
                <a:srgbClr val="1A7A6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Финансовая модель: сервисные договоры (cost-plus)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8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 panose="020B0502040204020203"/>
              </a:rPr>
              <a:t>WFOE не получает «дотацию», а продаёт услуги материнской компании. Наценка 8% — ориентир для трансфертного ценообразования.</a:t>
            </a:r>
            <a:endParaRPr sz="14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10911535" cy="40965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CC5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4418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66666"/>
                </a:solidFill>
                <a:latin typeface="Segoe UI" panose="020B0502040204020203"/>
              </a:rPr>
              <a:t>Один рамочный сервисный договор + приложения-SOW по услугам + ежемесячные акты (биллинг в CNY).</a:t>
            </a:r>
            <a:endParaRPr sz="1200" b="0">
              <a:solidFill>
                <a:srgbClr val="666666"/>
              </a:solidFill>
              <a:latin typeface="Segoe UI" panose="020B0502040204020203"/>
            </a:endParaRPr>
          </a:p>
        </p:txBody>
      </p:sp>
      <p:pic>
        <p:nvPicPr>
          <p:cNvPr id="14" name="Picture 13" descr="diagram-03-budget-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70" y="2900680"/>
            <a:ext cx="10582910" cy="1806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Перечень сервисных договоров (billable services)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9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371600"/>
          <a:ext cx="10911533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28555"/>
                <a:gridCol w="1636730"/>
                <a:gridCol w="3546248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Услуга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Функция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Модель оплаты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Поиск и верификация поставщиков (sourcing fee)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F1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Ретейнер / за бриф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Контроль качества и аудиты (QC / audit fee)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F2, F4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За инспекцию/аудит + ретейнер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Управление и отправка образцов (sample fee)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F3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За партию / ретейнер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Создание контента (content production fee)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F8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За SKU / пакет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Координация тестирования (lab testing fee)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F9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Координация + pass-through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Аналитика рынка (market intelligence retainer)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F10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Ежемесячный ретейнер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Управление и liaison (management fee)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F5, F7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Ежемесячный ретейнер</a:t>
                      </a:r>
                      <a:endParaRPr sz="11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06247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7A6D"/>
                </a:solidFill>
                <a:latin typeface="Segoe UI" panose="020B0502040204020203"/>
              </a:rPr>
              <a:t>Счета лабораторий SGS/BV/Intertek — pass-through: перевыставляются отдельной строкой, в cost base не входят.</a:t>
            </a:r>
            <a:endParaRPr sz="1100" b="0">
              <a:solidFill>
                <a:srgbClr val="1A7A6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Roadmap запуска M1–M6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10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108960"/>
          <a:ext cx="10911533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1957"/>
                <a:gridCol w="7085412"/>
                <a:gridCol w="283416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Месяц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Ключевые действия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Веха</a:t>
                      </a:r>
                      <a:endParaRPr sz="12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M1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Директор, юрконсультант, ТМ в CNIPA, проработка сервисных договоров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Scope утверждён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M2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Pre-approval WFOE, офис-админ, кат. менеджер (игрушки), рамочный договор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Команда 3 чел.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M3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Business license, счёт, экспортная рег. «про запас», протокол ОТК AQL 2,5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WFOE действует, 6 чел.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M4</a:t>
                      </a:r>
                      <a:endParaRPr sz="105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Бухгалтер, инспектор, аналитик; первые образцы и PSI; первый биллинг</a:t>
                      </a:r>
                      <a:endParaRPr sz="105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9 чел., первый акт</a:t>
                      </a:r>
                      <a:endParaRPr sz="105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M5</a:t>
                      </a:r>
                      <a:endParaRPr sz="105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Технолог, контент, тестирование, 2-й инспектор; PPS, контент, тесты</a:t>
                      </a:r>
                      <a:endParaRPr sz="105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13 чел., полная команда</a:t>
                      </a:r>
                      <a:endParaRPr sz="1050" b="1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BF3D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M6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Штатный режим, KPI, ретроспектива, go/no-go экспорт (Фаза 2)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KPI на уровне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diagram-04-roadmap-phas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1485900"/>
            <a:ext cx="1115377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KPI по фазам и график найма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11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272887" cy="411480"/>
          </a:xfrm>
          <a:prstGeom prst="round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KPI по фазам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920240"/>
          <a:ext cx="5272886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9155"/>
                <a:gridCol w="1054577"/>
                <a:gridCol w="1054577"/>
                <a:gridCol w="1054577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KPI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M1–2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M3–4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M5–6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Численность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1→3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6→9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13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Фабрики (накопит.)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0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10–15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25–40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Образцы в РФ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0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первые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поток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PSI / аудиты в мес.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0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первые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по SKU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Дефектность отгрузок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—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базлайн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&lt; 1,5%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SLA ответа ПМ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—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≤ 2 дня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≤ 1 день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78727" y="1371600"/>
            <a:ext cx="5272887" cy="411480"/>
          </a:xfrm>
          <a:prstGeom prst="roundRect">
            <a:avLst/>
          </a:prstGeom>
          <a:solidFill>
            <a:srgbClr val="2C3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Segoe UI" panose="020B0502040204020203"/>
              </a:rPr>
              <a:t>График найма (активных сотрудников)</a:t>
            </a:r>
            <a:endParaRPr sz="1400" b="1">
              <a:solidFill>
                <a:srgbClr val="FFFFFF"/>
              </a:solidFill>
              <a:latin typeface="Segoe UI" panose="020B0502040204020203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78728" y="1920240"/>
          <a:ext cx="5272881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1815"/>
                <a:gridCol w="458511"/>
                <a:gridCol w="458511"/>
                <a:gridCol w="458511"/>
                <a:gridCol w="458511"/>
                <a:gridCol w="458511"/>
                <a:gridCol w="458511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Роль / месяц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M1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M2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M3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M4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M5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M6</a:t>
                      </a:r>
                      <a:endParaRPr sz="11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Директор (RU)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Офис-админ (CN)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Кат. менеджер игрушки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Кат. менеджеры одежда/акс.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Руководитель ОТК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Бухгалтер, инспектор, аналитик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Технолог, контент, тестир., инсп.2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●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Активных сотрудников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3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6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9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13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13</a:t>
                      </a:r>
                      <a:endParaRPr sz="10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10819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A7A6D"/>
                </a:solidFill>
                <a:latin typeface="Segoe UI" panose="020B0502040204020203"/>
              </a:rPr>
              <a:t>13 вех M1–M6 — см. slides.md (слайд 12) и 04_setup_development_plan_6m.md. Поэтапный найм снижает burn rate первых месяцев.</a:t>
            </a:r>
            <a:endParaRPr sz="1100" b="0">
              <a:solidFill>
                <a:srgbClr val="1A7A6D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Горизонтальные связи с московским офисом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12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Segoe UI" panose="020B0502040204020203"/>
              </a:rPr>
              <a:t>Единое окно (директор WFOE, F5) + прямые функциональные связки кат. менеджеров и ПМ.</a:t>
            </a:r>
            <a:endParaRPr sz="14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489448"/>
            <a:ext cx="1091153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300" b="1">
                <a:solidFill>
                  <a:srgbClr val="1B2A4A"/>
                </a:solidFill>
                <a:latin typeface="Segoe UI" panose="020B0502040204020203"/>
              </a:rPr>
              <a:t>Единое окно: </a:t>
            </a:r>
            <a:r>
              <a:rPr sz="1300">
                <a:solidFill>
                  <a:srgbClr val="333333"/>
                </a:solidFill>
                <a:latin typeface="Segoe UI" panose="020B0502040204020203"/>
              </a:rPr>
              <a:t>все запросы через директора — без «дёргания» исполнителей в обход приоритетов.</a:t>
            </a:r>
            <a:endParaRPr sz="13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5873496"/>
            <a:ext cx="1091153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300" b="1">
                <a:solidFill>
                  <a:srgbClr val="1B2A4A"/>
                </a:solidFill>
                <a:latin typeface="Segoe UI" panose="020B0502040204020203"/>
              </a:rPr>
              <a:t>Функциональные связки: </a:t>
            </a:r>
            <a:r>
              <a:rPr sz="1300">
                <a:solidFill>
                  <a:srgbClr val="333333"/>
                </a:solidFill>
                <a:latin typeface="Segoe UI" panose="020B0502040204020203"/>
              </a:rPr>
              <a:t>кат. менеджеры ↔ ПМ; технолог ↔ ПМ одежды; контент ↔ маркетинг.</a:t>
            </a:r>
            <a:endParaRPr sz="130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6257544"/>
            <a:ext cx="1091153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300">
                <a:solidFill>
                  <a:srgbClr val="B02A30"/>
                </a:solidFill>
                <a:latin typeface="Segoe UI" panose="020B0502040204020203"/>
              </a:rPr>
              <a:t>•  </a:t>
            </a:r>
            <a:r>
              <a:rPr sz="1300" b="1">
                <a:solidFill>
                  <a:srgbClr val="1B2A4A"/>
                </a:solidFill>
                <a:latin typeface="Segoe UI" panose="020B0502040204020203"/>
              </a:rPr>
              <a:t>Общий трекер: </a:t>
            </a:r>
            <a:r>
              <a:rPr sz="1300">
                <a:solidFill>
                  <a:srgbClr val="333333"/>
                </a:solidFill>
                <a:latin typeface="Segoe UI" panose="020B0502040204020203"/>
              </a:rPr>
              <a:t>задачи, AVL, библиотека образцов, протоколы тестов — обеим сторонам. Часовые пояса: МСК +5 ч.</a:t>
            </a:r>
            <a:endParaRPr sz="1300">
              <a:solidFill>
                <a:srgbClr val="333333"/>
              </a:solidFill>
              <a:latin typeface="Segoe UI" panose="020B0502040204020203"/>
            </a:endParaRPr>
          </a:p>
        </p:txBody>
      </p:sp>
      <p:pic>
        <p:nvPicPr>
          <p:cNvPr id="16" name="Picture 15" descr="diagram-05-moscow-link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60" y="1698625"/>
            <a:ext cx="10302240" cy="36506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Сквозные процессы: образцы, QC и оплата доставки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13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12776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A4A"/>
                </a:solidFill>
                <a:latin typeface="Segoe UI" panose="020B0502040204020203"/>
              </a:rPr>
              <a:t>Процесс А. Образцы (3–7 дней «фабрика → РФ»)</a:t>
            </a:r>
            <a:endParaRPr sz="1300" b="1">
              <a:solidFill>
                <a:srgbClr val="1B2A4A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2602" y="272478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A4A"/>
                </a:solidFill>
                <a:latin typeface="Segoe UI" panose="020B0502040204020203"/>
              </a:rPr>
              <a:t>Процесс Б. Pre-shipment QC (AQL 2,5)</a:t>
            </a:r>
            <a:endParaRPr sz="1300" b="1">
              <a:solidFill>
                <a:srgbClr val="1B2A4A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852416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B2A4A"/>
                </a:solidFill>
                <a:latin typeface="Segoe UI" panose="020B0502040204020203"/>
              </a:rPr>
              <a:t>Контур оплаты доставки образцов (cost-plus)</a:t>
            </a:r>
            <a:endParaRPr sz="1300" b="1">
              <a:solidFill>
                <a:srgbClr val="1B2A4A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34441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A7A6D"/>
                </a:solidFill>
                <a:latin typeface="Segoe UI" panose="020B0502040204020203"/>
              </a:rPr>
              <a:t>WFOE оплачивает перевозчика из своих средств → расход в cost base → перевыставление материнской с наценкой 8% + НДС.</a:t>
            </a:r>
            <a:endParaRPr sz="1100" b="0">
              <a:solidFill>
                <a:srgbClr val="1A7A6D"/>
              </a:solidFill>
              <a:latin typeface="Segoe UI" panose="020B0502040204020203"/>
            </a:endParaRPr>
          </a:p>
        </p:txBody>
      </p:sp>
      <p:pic>
        <p:nvPicPr>
          <p:cNvPr id="20" name="Picture 19" descr="diagram-06-process-samp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645920"/>
            <a:ext cx="11822430" cy="982980"/>
          </a:xfrm>
          <a:prstGeom prst="rect">
            <a:avLst/>
          </a:prstGeom>
        </p:spPr>
      </p:pic>
      <p:pic>
        <p:nvPicPr>
          <p:cNvPr id="21" name="Picture 20" descr="diagram-07-process-q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0" y="2999105"/>
            <a:ext cx="9788525" cy="1748155"/>
          </a:xfrm>
          <a:prstGeom prst="rect">
            <a:avLst/>
          </a:prstGeom>
        </p:spPr>
      </p:pic>
      <p:pic>
        <p:nvPicPr>
          <p:cNvPr id="22" name="Picture 21" descr="diagram-08-sample-pay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70" y="5173345"/>
            <a:ext cx="11772900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9C2D6"/>
                </a:solidFill>
                <a:latin typeface="Segoe UI" panose="020B0502040204020203"/>
              </a:rPr>
              <a:t>Детский Мир · WFOE КНР · Фаза 1</a:t>
            </a:r>
            <a:endParaRPr sz="1100" b="0">
              <a:solidFill>
                <a:srgbClr val="B9C2D6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Georgia" panose="02040502050405020303"/>
              </a:rPr>
              <a:t>SLA, риски и критерии активации Фазы 2</a:t>
            </a:r>
            <a:endParaRPr sz="26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2377440" cy="50800"/>
          </a:xfrm>
          <a:prstGeom prst="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"/>
          </a:xfrm>
          <a:prstGeom prst="rect">
            <a:avLst/>
          </a:prstGeom>
          <a:solidFill>
            <a:srgbClr val="CCC5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60196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Сервисный центр закупок в Китае · 6 месяцев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62895" y="66019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666666"/>
                </a:solidFill>
                <a:latin typeface="Segoe UI" panose="020B0502040204020203"/>
              </a:rPr>
              <a:t>14 / 14</a:t>
            </a:r>
            <a:endParaRPr sz="1000" b="0">
              <a:solidFill>
                <a:srgbClr val="666666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454298" cy="347472"/>
          </a:xfrm>
          <a:prstGeom prst="round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Segoe UI" panose="020B0502040204020203"/>
              </a:rPr>
              <a:t>SLA (ключевые)</a:t>
            </a:r>
            <a:endParaRPr sz="1200" b="1">
              <a:solidFill>
                <a:srgbClr val="FFFFFF"/>
              </a:solidFill>
              <a:latin typeface="Segoe UI" panose="020B0502040204020203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737360"/>
          <a:ext cx="3454297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2865"/>
                <a:gridCol w="11514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Параметр</a:t>
                      </a:r>
                      <a:endParaRPr sz="10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Значение</a:t>
                      </a:r>
                      <a:endParaRPr sz="10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Ответ на запрос ПМ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≤ 1 день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Закрытие брифа на образец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3–7 дней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Выезд по браку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≤ 3 дня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PSI после инспекции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≤ 1 день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Биллинг материнской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ежемесячно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Статус-отчёт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еженедельно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Аналитические обзоры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раз в 2 недели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368698" y="1371600"/>
            <a:ext cx="3454298" cy="347472"/>
          </a:xfrm>
          <a:prstGeom prst="round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Segoe UI" panose="020B0502040204020203"/>
              </a:rPr>
              <a:t>Риски и митигация</a:t>
            </a:r>
            <a:endParaRPr sz="1200" b="1">
              <a:solidFill>
                <a:srgbClr val="FFFFFF"/>
              </a:solidFill>
              <a:latin typeface="Segoe UI" panose="020B0502040204020203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368698" y="1737360"/>
          <a:ext cx="3454297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4291"/>
                <a:gridCol w="186000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Риск</a:t>
                      </a:r>
                      <a:endParaRPr sz="10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Georgia" panose="02040502050405020303"/>
                        </a:rPr>
                        <a:t>Митигация</a:t>
                      </a:r>
                      <a:endParaRPr sz="1000" b="1">
                        <a:solidFill>
                          <a:srgbClr val="FFFFFF"/>
                        </a:solidFill>
                        <a:latin typeface="Georgia" panose="02040502050405020303"/>
                      </a:endParaRPr>
                    </a:p>
                  </a:txBody>
                  <a:tcPr marL="0" marR="0" marT="0" marB="0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Задержка Z-визы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Старт M1, HR-агентство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Срыв регистрации WFOE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Юрконсультант, буфер сроков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Трансфертное ценообр.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Согласовать cost-plus M1–M2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Кража ИС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ТМ в CNIPA до фабрик, NDA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2EFE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Открытие счёта (санкции)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Segoe UI" panose="020B0502040204020203"/>
                        </a:rPr>
                        <a:t>Bank of China / ICBC, CNY</a:t>
                      </a:r>
                      <a:endParaRPr sz="950" b="0">
                        <a:solidFill>
                          <a:srgbClr val="333333"/>
                        </a:solidFill>
                        <a:latin typeface="Segoe UI" panose="020B0502040204020203"/>
                      </a:endParaRPr>
                    </a:p>
                  </a:txBody>
                  <a:tcPr marL="0" marR="0" marT="0" marB="0" anchor="ctr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097316" y="1371600"/>
            <a:ext cx="3454298" cy="347472"/>
          </a:xfrm>
          <a:prstGeom prst="roundRect">
            <a:avLst/>
          </a:prstGeom>
          <a:solidFill>
            <a:srgbClr val="C8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Segoe UI" panose="020B0502040204020203"/>
              </a:rPr>
              <a:t>Критерии Фазы 2 (M6)</a:t>
            </a:r>
            <a:endParaRPr sz="1200" b="1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97316" y="1737360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 panose="020B0502040204020203"/>
              </a:rPr>
              <a:t>☐  </a:t>
            </a:r>
            <a:r>
              <a:rPr sz="1050">
                <a:solidFill>
                  <a:srgbClr val="333333"/>
                </a:solidFill>
                <a:latin typeface="Segoe UI" panose="020B0502040204020203"/>
              </a:rPr>
              <a:t>KPI сервисных функций на уровне, биллинг отлажен</a:t>
            </a:r>
            <a:endParaRPr sz="105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7316" y="2304288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 panose="020B0502040204020203"/>
              </a:rPr>
              <a:t>☐  </a:t>
            </a:r>
            <a:r>
              <a:rPr sz="1050">
                <a:solidFill>
                  <a:srgbClr val="333333"/>
                </a:solidFill>
                <a:latin typeface="Segoe UI" panose="020B0502040204020203"/>
              </a:rPr>
              <a:t>Подтверждённая экономия на закупках (Finance)</a:t>
            </a:r>
            <a:endParaRPr sz="105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97316" y="2871216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 panose="020B0502040204020203"/>
              </a:rPr>
              <a:t>☐  </a:t>
            </a:r>
            <a:r>
              <a:rPr sz="1050">
                <a:solidFill>
                  <a:srgbClr val="333333"/>
                </a:solidFill>
                <a:latin typeface="Segoe UI" panose="020B0502040204020203"/>
              </a:rPr>
              <a:t>Бизнес-кейс под торговые операции (B2B)</a:t>
            </a:r>
            <a:endParaRPr sz="105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7316" y="3438144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 panose="020B0502040204020203"/>
              </a:rPr>
              <a:t>☐  </a:t>
            </a:r>
            <a:r>
              <a:rPr sz="1050">
                <a:solidFill>
                  <a:srgbClr val="333333"/>
                </a:solidFill>
                <a:latin typeface="Segoe UI" panose="020B0502040204020203"/>
              </a:rPr>
              <a:t>Готовность Finance к товарным CNY-расчётам</a:t>
            </a:r>
            <a:endParaRPr sz="105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97316" y="4005072"/>
            <a:ext cx="345429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C8962E"/>
                </a:solidFill>
                <a:latin typeface="Segoe UI" panose="020B0502040204020203"/>
              </a:rPr>
              <a:t>☐  </a:t>
            </a:r>
            <a:r>
              <a:rPr sz="1050">
                <a:solidFill>
                  <a:srgbClr val="333333"/>
                </a:solidFill>
                <a:latin typeface="Segoe UI" panose="020B0502040204020203"/>
              </a:rPr>
              <a:t>Положительная оценка санкционного/правового риска</a:t>
            </a:r>
            <a:endParaRPr sz="1050">
              <a:solidFill>
                <a:srgbClr val="333333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911535" cy="7772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24144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Georgia" panose="02040502050405020303"/>
              </a:rPr>
              <a:t>WFOE в Фазе 1 — контролируемый сервисный контур «глаза и руки» в Китае с прозрачным cost-plus финансированием, а не торговый риск с первого дня.</a:t>
            </a:r>
            <a:endParaRPr sz="1400" b="1">
              <a:solidFill>
                <a:srgbClr val="FFFFFF"/>
              </a:solidFill>
              <a:latin typeface="Georgia" panose="0204050205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8737</Words>
  <Application>WPS Presentation</Application>
  <PresentationFormat>On-screen Show (4:3)</PresentationFormat>
  <Paragraphs>656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Segoe UI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rikki</cp:lastModifiedBy>
  <cp:revision>4</cp:revision>
  <dcterms:created xsi:type="dcterms:W3CDTF">2013-01-27T09:14:00Z</dcterms:created>
  <dcterms:modified xsi:type="dcterms:W3CDTF">2026-06-03T04:11:43Z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F883A295CE0540BE9E5BA37CC6EECCA1_13</vt:lpwstr>
  </property>
  <property fmtid="{D5CDD505-2E9C-101B-9397-08002B2CF9AE}" pid="3" name="KSOProductBuildVer">
    <vt:lpwstr>1033-12.1.0.25862</vt:lpwstr>
  </property>
</Properties>
</file>